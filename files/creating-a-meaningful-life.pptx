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1097280"/>
            <a:ext cx="67025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43584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F6B76"/>
                </a:solidFill>
                <a:latin typeface="微软雅黑"/>
                <a:ea typeface="微软雅黑"/>
              </a:rPr>
              <a:t>思想道德与法治 · 课前分享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4303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0">
                <a:solidFill>
                  <a:srgbClr val="1B1B1B"/>
                </a:solidFill>
                <a:latin typeface="微软雅黑 Light"/>
                <a:ea typeface="微软雅黑 Light"/>
              </a:rPr>
              <a:t>创造有意义的人生</a:t>
            </a:r>
          </a:p>
        </p:txBody>
      </p:sp>
      <p:sp>
        <p:nvSpPr>
          <p:cNvPr id="6" name="Rectangle 5"/>
          <p:cNvSpPr/>
          <p:nvPr/>
        </p:nvSpPr>
        <p:spPr>
          <a:xfrm>
            <a:off x="5550408" y="3749039"/>
            <a:ext cx="1097280" cy="457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2F4858"/>
                </a:solidFill>
                <a:latin typeface="微软雅黑 Light"/>
                <a:ea typeface="微软雅黑 Light"/>
              </a:rPr>
              <a:t>从一次被否定说起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4937760"/>
            <a:ext cx="67025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05430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主讲：theotherDancer</a:t>
            </a:r>
          </a:p>
          <a:p>
            <a:pPr algn="ctr"/>
            <a:r>
              <a:rPr sz="1250" b="0">
                <a:solidFill>
                  <a:srgbClr val="5F6B76"/>
                </a:solidFill>
                <a:latin typeface="微软雅黑"/>
                <a:ea typeface="微软雅黑"/>
              </a:rPr>
              <a:t>第一章 第三节 ｜ 创造有意义的人生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8A2AB"/>
                </a:solidFill>
                <a:latin typeface="微软雅黑"/>
                <a:ea typeface="微软雅黑"/>
              </a:rPr>
              <a:t>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开场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10543032" cy="205740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64008" cy="205740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606040"/>
            <a:ext cx="9875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B1B1B"/>
                </a:solidFill>
                <a:latin typeface="微软雅黑 Light"/>
                <a:ea typeface="微软雅黑 Light"/>
              </a:rPr>
              <a:t>你觉得自己</a:t>
            </a:r>
          </a:p>
          <a:p>
            <a:pPr algn="l">
              <a:lnSpc>
                <a:spcPct val="125000"/>
              </a:lnSpc>
            </a:pPr>
            <a:r>
              <a:rPr sz="3200" b="0">
                <a:solidFill>
                  <a:srgbClr val="1B1B1B"/>
                </a:solidFill>
                <a:latin typeface="微软雅黑 Light"/>
                <a:ea typeface="微软雅黑 Light"/>
              </a:rPr>
              <a:t>「不够好」过吗？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不够漂亮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不够聪明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617720"/>
            <a:ext cx="3200400" cy="77724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6177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不够优秀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这次聊什么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书里提到的三点，我想聊聊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48840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031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35224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04495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99232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31336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941064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41064"/>
            <a:ext cx="603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F485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895344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成就出彩人生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983480"/>
            <a:ext cx="10543032" cy="77724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983480"/>
            <a:ext cx="64008" cy="77724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38928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F6B76"/>
                </a:solidFill>
                <a:latin typeface="微软雅黑"/>
                <a:ea typeface="微软雅黑"/>
              </a:rPr>
              <a:t>不是上课——就是借这三句话，讲讲我自己的故事。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我的故事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两次被否定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0543032" cy="1874519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64008" cy="1874519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33172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1B1B1B"/>
                </a:solidFill>
                <a:latin typeface="Noto Serif SC"/>
                <a:ea typeface="Noto Serif SC"/>
              </a:rPr>
              <a:t>「你太矮了。」</a:t>
            </a:r>
          </a:p>
          <a:p>
            <a:pPr algn="l"/>
            <a:r>
              <a:rPr sz="2400" b="0">
                <a:solidFill>
                  <a:srgbClr val="1B1B1B"/>
                </a:solidFill>
                <a:latin typeface="Noto Serif SC"/>
                <a:ea typeface="Noto Serif SC"/>
              </a:rPr>
              <a:t>「你思维太慢，太菜。」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224528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1036015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5F6B76"/>
                </a:solidFill>
                <a:latin typeface="微软雅黑"/>
                <a:ea typeface="微软雅黑"/>
              </a:rPr>
              <a:t>真正让我难受的，不是这两句话——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2F4858"/>
                </a:solidFill>
                <a:latin typeface="微软雅黑 Light"/>
                <a:ea typeface="微软雅黑 Light"/>
              </a:rPr>
              <a:t>是我把衡量自己的那把尺子，交到了别人手里。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共鸣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其实，不止我一个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容貌焦虑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身材焦虑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788920"/>
            <a:ext cx="3246120" cy="914400"/>
          </a:xfrm>
          <a:prstGeom prst="roundRect">
            <a:avLst>
              <a:gd name="adj" fmla="val 16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88920"/>
            <a:ext cx="3246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微软雅黑"/>
                <a:ea typeface="微软雅黑"/>
              </a:rPr>
              <a:t>能力焦虑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43484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F6B76"/>
                </a:solidFill>
                <a:latin typeface="微软雅黑"/>
                <a:ea typeface="微软雅黑"/>
              </a:rPr>
              <a:t>我们太习惯，拿别人的标准来量自己。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知识点一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10543032" cy="77724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84831"/>
            <a:ext cx="64008" cy="77724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58568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2F4858"/>
                </a:solidFill>
                <a:latin typeface="微软雅黑 Light"/>
                <a:ea typeface="微软雅黑 Light"/>
              </a:rPr>
              <a:t>对立统一　·　相互转化　·　一定条件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课本常讲的「五观」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得失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苦乐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顺逆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生死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3456432"/>
            <a:ext cx="1938528" cy="640080"/>
          </a:xfrm>
          <a:prstGeom prst="roundRect">
            <a:avLst>
              <a:gd name="adj" fmla="val 14000"/>
            </a:avLst>
          </a:prstGeom>
          <a:solidFill>
            <a:srgbClr val="E2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3456432"/>
            <a:ext cx="193852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F4858"/>
                </a:solidFill>
                <a:latin typeface="微软雅黑"/>
                <a:ea typeface="微软雅黑"/>
              </a:rPr>
              <a:t>荣辱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52628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4709160"/>
            <a:ext cx="10543032" cy="1051560"/>
          </a:xfrm>
          <a:prstGeom prst="roundRect">
            <a:avLst>
              <a:gd name="adj" fmla="val 8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709160"/>
            <a:ext cx="64008" cy="105156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864608"/>
            <a:ext cx="9966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F6B76"/>
                </a:solidFill>
                <a:latin typeface="微软雅黑"/>
                <a:ea typeface="微软雅黑"/>
              </a:rPr>
              <a:t>挫折不会自动变成财富——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2F4858"/>
                </a:solidFill>
                <a:latin typeface="微软雅黑 Light"/>
                <a:ea typeface="微软雅黑 Light"/>
              </a:rPr>
              <a:t>在于「一定条件」：你怎么对待它，决定它把你带向哪里。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知识点二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1"/>
            <a:ext cx="10543032" cy="960120"/>
          </a:xfrm>
          <a:prstGeom prst="roundRect">
            <a:avLst>
              <a:gd name="adj" fmla="val 8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84831"/>
            <a:ext cx="64008" cy="9601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人生价值 ＝ 自我价值 ＋ 社会价值</a:t>
            </a:r>
          </a:p>
          <a:p>
            <a:pPr algn="l"/>
            <a:r>
              <a:rPr sz="1300" b="0">
                <a:solidFill>
                  <a:srgbClr val="98A2AB"/>
                </a:solidFill>
                <a:latin typeface="微软雅黑"/>
                <a:ea typeface="微软雅黑"/>
              </a:rPr>
              <a:t>（社会价值是主要方面）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38328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84448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评价的根本尺度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2F4858"/>
                </a:solidFill>
                <a:latin typeface="微软雅黑 Light"/>
                <a:ea typeface="微软雅黑 Light"/>
              </a:rPr>
              <a:t>看他有没有为他人、为社会作出贡献。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要警惕：拜金主义　·　享乐主义　·　极端个人主义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借力与落回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存在主义 × 马克思主义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5074920" cy="224028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64008" cy="22402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2359152"/>
            <a:ext cx="1417320" cy="411480"/>
          </a:xfrm>
          <a:prstGeom prst="roundRect">
            <a:avLst>
              <a:gd name="adj" fmla="val 20000"/>
            </a:avLst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59152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存在主义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2608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人是自由的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自由地选择，自负其责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不该活在别人的目光里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2148840"/>
            <a:ext cx="5074920" cy="2240280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2148840"/>
            <a:ext cx="64008" cy="22402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65976" y="2359152"/>
            <a:ext cx="1691640" cy="411480"/>
          </a:xfrm>
          <a:prstGeom prst="roundRect">
            <a:avLst>
              <a:gd name="adj" fmla="val 20000"/>
            </a:avLst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359152"/>
            <a:ext cx="1691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马克思主义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2926080"/>
            <a:ext cx="4663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人的本质是一切社会关系的总和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个人价值与社会价值相统一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1B1B1B"/>
                </a:solidFill>
                <a:latin typeface="微软雅黑"/>
                <a:ea typeface="微软雅黑"/>
              </a:rPr>
              <a:t>我们不是孤岛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663440"/>
            <a:ext cx="10543032" cy="868680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663440"/>
            <a:ext cx="64008" cy="86868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828032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>
                <a:solidFill>
                  <a:srgbClr val="2F4858"/>
                </a:solidFill>
                <a:latin typeface="微软雅黑 Light"/>
                <a:ea typeface="微软雅黑 Light"/>
              </a:rPr>
              <a:t>真正的自我价值，是握着自己的尺子，却把它指向对他人、对社会的贡献。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676656"/>
            <a:ext cx="118872" cy="118872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62179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F4858"/>
                </a:solidFill>
                <a:latin typeface="微软雅黑"/>
                <a:ea typeface="微软雅黑"/>
              </a:rPr>
              <a:t>我的路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"/>
            <a:ext cx="1036015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1B1B1B"/>
                </a:solidFill>
                <a:latin typeface="微软雅黑 Light"/>
                <a:ea typeface="微软雅黑 Light"/>
              </a:rPr>
              <a:t>三条线，同一个起点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488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066543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动画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3347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在其中感受到纯粹的快乐、荒诞与美好带来的意义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63824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42899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346703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哲学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13631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因为想弄懂人与这个世界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443983"/>
            <a:ext cx="10360152" cy="9144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7091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626864"/>
            <a:ext cx="9509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1B1B1B"/>
                </a:solidFill>
                <a:latin typeface="微软雅黑 Light"/>
                <a:ea typeface="微软雅黑 Light"/>
              </a:rPr>
              <a:t>编程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193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5F6B76"/>
                </a:solidFill>
                <a:latin typeface="微软雅黑"/>
                <a:ea typeface="微软雅黑"/>
              </a:rPr>
              <a:t>因为想找到自己的价值，做出对人们有用的产品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1036015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人生的意义，不是一次算清的答案，</a:t>
            </a:r>
          </a:p>
          <a:p>
            <a:pPr algn="l">
              <a:lnSpc>
                <a:spcPct val="130000"/>
              </a:lnSpc>
            </a:pPr>
            <a:r>
              <a:rPr sz="2500" b="0">
                <a:solidFill>
                  <a:srgbClr val="2F4858"/>
                </a:solidFill>
                <a:latin typeface="Noto Serif SC"/>
                <a:ea typeface="Noto Serif SC"/>
              </a:rPr>
              <a:t>而是在矛盾中不断被重新书写的动态过程。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977639"/>
            <a:ext cx="10360152" cy="10972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10543032" cy="1417320"/>
          </a:xfrm>
          <a:prstGeom prst="roundRect">
            <a:avLst>
              <a:gd name="adj" fmla="val 7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64008" cy="14173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343400"/>
            <a:ext cx="99669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F6B76"/>
                </a:solidFill>
                <a:latin typeface="微软雅黑"/>
                <a:ea typeface="微软雅黑"/>
              </a:rPr>
              <a:t>所以，我给自己找了一把尺子——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1B1B"/>
                </a:solidFill>
                <a:latin typeface="微软雅黑"/>
                <a:ea typeface="微软雅黑"/>
              </a:rPr>
              <a:t>能不能让我成长　｜　能不能对别人有用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98A2AB"/>
                </a:solidFill>
                <a:latin typeface="微软雅黑"/>
                <a:ea typeface="微软雅黑"/>
              </a:rPr>
              <a:t>这未必是标准答案，但它让我走得更笃定。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01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>
                <a:solidFill>
                  <a:srgbClr val="1B1B1B"/>
                </a:solidFill>
                <a:latin typeface="微软雅黑 Light"/>
                <a:ea typeface="微软雅黑 Light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737360" cy="45720"/>
          </a:xfrm>
          <a:prstGeom prst="rect">
            <a:avLst/>
          </a:prstGeom>
          <a:solidFill>
            <a:srgbClr val="527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F6B76"/>
                </a:solidFill>
                <a:latin typeface="微软雅黑"/>
                <a:ea typeface="微软雅黑"/>
              </a:rPr>
              <a:t>你正在为什么样的意义而努力？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327648"/>
            <a:ext cx="10360152" cy="7315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008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98A2AB"/>
                </a:solidFill>
                <a:latin typeface="微软雅黑"/>
                <a:ea typeface="微软雅黑"/>
              </a:rPr>
              <a:t>创造有意义的人生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0152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8A2AB"/>
                </a:solidFill>
                <a:latin typeface="微软雅黑"/>
                <a:ea typeface="微软雅黑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