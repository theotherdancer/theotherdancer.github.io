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微软雅黑"/>
                <a:ea typeface="微软雅黑"/>
              </a:rPr>
              <a:t>思想道德与法治 · 课前分享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0">
                <a:solidFill>
                  <a:srgbClr val="1B1B1B"/>
                </a:solidFill>
                <a:latin typeface="微软雅黑 Light"/>
                <a:ea typeface="微软雅黑 Light"/>
              </a:rPr>
              <a:t>创造有意义的人生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10128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3A5A70"/>
                </a:solidFill>
                <a:latin typeface="微软雅黑 Light"/>
                <a:ea typeface="微软雅黑 Light"/>
              </a:rPr>
              <a:t>从一次被否定说起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977639"/>
            <a:ext cx="3291840" cy="14630"/>
          </a:xfrm>
          <a:prstGeom prst="rect">
            <a:avLst/>
          </a:prstGeom>
          <a:solidFill>
            <a:srgbClr val="3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B1B1B"/>
                </a:solidFill>
                <a:latin typeface="微软雅黑"/>
                <a:ea typeface="微软雅黑"/>
              </a:rPr>
              <a:t>主讲：theotherDancer</a:t>
            </a:r>
          </a:p>
          <a:p>
            <a:pPr algn="l"/>
            <a:r>
              <a:rPr sz="1250" b="0">
                <a:solidFill>
                  <a:srgbClr val="6B6B6B"/>
                </a:solidFill>
                <a:latin typeface="微软雅黑"/>
                <a:ea typeface="微软雅黑"/>
              </a:rPr>
              <a:t>第一章 第三节 ｜ 创造有意义的人生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327648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微软雅黑"/>
                <a:ea typeface="微软雅黑"/>
              </a:rPr>
              <a:t>2026.10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327648"/>
            <a:ext cx="850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9A9A"/>
                </a:solidFill>
                <a:latin typeface="微软雅黑"/>
                <a:ea typeface="微软雅黑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3A5A70"/>
                </a:solidFill>
                <a:latin typeface="微软雅黑"/>
                <a:ea typeface="微软雅黑"/>
              </a:rPr>
              <a:t>开场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65960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0">
                <a:solidFill>
                  <a:srgbClr val="1B1B1B"/>
                </a:solidFill>
                <a:latin typeface="微软雅黑 Light"/>
                <a:ea typeface="微软雅黑 Light"/>
              </a:rPr>
              <a:t>你觉得自己</a:t>
            </a:r>
          </a:p>
          <a:p>
            <a:pPr algn="l">
              <a:lnSpc>
                <a:spcPct val="125000"/>
              </a:lnSpc>
            </a:pPr>
            <a:r>
              <a:rPr sz="3400" b="0">
                <a:solidFill>
                  <a:srgbClr val="1B1B1B"/>
                </a:solidFill>
                <a:latin typeface="微软雅黑 Light"/>
                <a:ea typeface="微软雅黑 Light"/>
              </a:rPr>
              <a:t>「不够好」过吗？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6B6B"/>
                </a:solidFill>
                <a:latin typeface="微软雅黑"/>
                <a:ea typeface="微软雅黑"/>
              </a:rPr>
              <a:t>不够漂亮 · 不够聪明 · 不够优秀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327648"/>
            <a:ext cx="850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9A9A"/>
                </a:solidFill>
                <a:latin typeface="微软雅黑"/>
                <a:ea typeface="微软雅黑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3A5A70"/>
                </a:solidFill>
                <a:latin typeface="微软雅黑"/>
                <a:ea typeface="微软雅黑"/>
              </a:rPr>
              <a:t>本节框架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0">
                <a:solidFill>
                  <a:srgbClr val="1B1B1B"/>
                </a:solidFill>
                <a:latin typeface="微软雅黑 Light"/>
                <a:ea typeface="微软雅黑 Light"/>
              </a:rPr>
              <a:t>本节课的三个知识点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73352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8FA6B4"/>
                </a:solidFill>
                <a:latin typeface="微软雅黑 Light"/>
                <a:ea typeface="微软雅黑 Ligh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85416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0">
                <a:solidFill>
                  <a:srgbClr val="1B1B1B"/>
                </a:solidFill>
                <a:latin typeface="微软雅黑 Light"/>
                <a:ea typeface="微软雅黑 Light"/>
              </a:rPr>
              <a:t>辩证看待人生矛盾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8FA6B4"/>
                </a:solidFill>
                <a:latin typeface="微软雅黑 Light"/>
                <a:ea typeface="微软雅黑 Ligh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3054096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0">
                <a:solidFill>
                  <a:srgbClr val="1B1B1B"/>
                </a:solidFill>
                <a:latin typeface="微软雅黑 Light"/>
                <a:ea typeface="微软雅黑 Light"/>
              </a:rPr>
              <a:t>正确评价人生价值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7764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8FA6B4"/>
                </a:solidFill>
                <a:latin typeface="微软雅黑 Light"/>
                <a:ea typeface="微软雅黑 Light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922776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0">
                <a:solidFill>
                  <a:srgbClr val="1B1B1B"/>
                </a:solidFill>
                <a:latin typeface="微软雅黑 Light"/>
                <a:ea typeface="微软雅黑 Light"/>
              </a:rPr>
              <a:t>成就出彩人生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257800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4406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微软雅黑"/>
                <a:ea typeface="微软雅黑"/>
              </a:rPr>
              <a:t>我不想念课本——我想用一段自己的经历，和它们一一对上。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327648"/>
            <a:ext cx="850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9A9A"/>
                </a:solidFill>
                <a:latin typeface="微软雅黑"/>
                <a:ea typeface="微软雅黑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3A5A70"/>
                </a:solidFill>
                <a:latin typeface="微软雅黑"/>
                <a:ea typeface="微软雅黑"/>
              </a:rPr>
              <a:t>我的故事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0">
                <a:solidFill>
                  <a:srgbClr val="1B1B1B"/>
                </a:solidFill>
                <a:latin typeface="微软雅黑 Light"/>
                <a:ea typeface="微软雅黑 Light"/>
              </a:rPr>
              <a:t>两次被否定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73352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578608"/>
            <a:ext cx="10972" cy="1170432"/>
          </a:xfrm>
          <a:prstGeom prst="rect">
            <a:avLst/>
          </a:prstGeom>
          <a:solidFill>
            <a:srgbClr val="8FA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2505456"/>
            <a:ext cx="9601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500" b="0">
                <a:solidFill>
                  <a:srgbClr val="1B1B1B"/>
                </a:solidFill>
                <a:latin typeface="Noto Serif SC"/>
                <a:ea typeface="Noto Serif SC"/>
              </a:rPr>
              <a:t>「你太矮了。」</a:t>
            </a:r>
          </a:p>
          <a:p>
            <a:pPr algn="l"/>
            <a:r>
              <a:rPr sz="2500" b="0">
                <a:solidFill>
                  <a:srgbClr val="1B1B1B"/>
                </a:solidFill>
                <a:latin typeface="Noto Serif SC"/>
                <a:ea typeface="Noto Serif SC"/>
              </a:rPr>
              <a:t>「你思维太慢，太菜。」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343400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6B6B6B"/>
                </a:solidFill>
                <a:latin typeface="微软雅黑"/>
                <a:ea typeface="微软雅黑"/>
              </a:rPr>
              <a:t>真正让我难受的，不是这两句话——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3A5A70"/>
                </a:solidFill>
                <a:latin typeface="微软雅黑 Light"/>
                <a:ea typeface="微软雅黑 Light"/>
              </a:rPr>
              <a:t>是我把衡量自己的那把尺子，交到了别人手里。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27648"/>
            <a:ext cx="850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9A9A"/>
                </a:solidFill>
                <a:latin typeface="微软雅黑"/>
                <a:ea typeface="微软雅黑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3A5A70"/>
                </a:solidFill>
                <a:latin typeface="微软雅黑"/>
                <a:ea typeface="微软雅黑"/>
              </a:rPr>
              <a:t>共鸣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0">
                <a:solidFill>
                  <a:srgbClr val="1B1B1B"/>
                </a:solidFill>
                <a:latin typeface="微软雅黑 Light"/>
                <a:ea typeface="微软雅黑 Light"/>
              </a:rPr>
              <a:t>其实，不止我一个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73352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99232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1B1B1B"/>
                </a:solidFill>
                <a:latin typeface="微软雅黑 Light"/>
                <a:ea typeface="微软雅黑 Light"/>
              </a:rPr>
              <a:t>容貌焦虑　·　身材焦虑　·　能力焦虑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389120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6177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6B6B6B"/>
                </a:solidFill>
                <a:latin typeface="微软雅黑"/>
                <a:ea typeface="微软雅黑"/>
              </a:rPr>
              <a:t>我们太习惯，拿别人的标准来量自己。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327648"/>
            <a:ext cx="850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9A9A"/>
                </a:solidFill>
                <a:latin typeface="微软雅黑"/>
                <a:ea typeface="微软雅黑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3A5A70"/>
                </a:solidFill>
                <a:latin typeface="微软雅黑"/>
                <a:ea typeface="微软雅黑"/>
              </a:rPr>
              <a:t>知识点一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0">
                <a:solidFill>
                  <a:srgbClr val="1B1B1B"/>
                </a:solidFill>
                <a:latin typeface="微软雅黑 Light"/>
                <a:ea typeface="微软雅黑 Light"/>
              </a:rPr>
              <a:t>辩证看待人生矛盾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73352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3A5A70"/>
                </a:solidFill>
                <a:latin typeface="微软雅黑 Light"/>
                <a:ea typeface="微软雅黑 Light"/>
              </a:rPr>
              <a:t>对立统一　·　相互转化　·　一定条件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微软雅黑"/>
                <a:ea typeface="微软雅黑"/>
              </a:rPr>
              <a:t>课本常讲的“五观”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204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B1B1B"/>
                </a:solidFill>
                <a:latin typeface="微软雅黑 Light"/>
                <a:ea typeface="微软雅黑 Light"/>
              </a:rPr>
              <a:t>得失　·　苦乐　·　顺逆　·　生死　·　荣辱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709160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9377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6B6B6B"/>
                </a:solidFill>
                <a:latin typeface="微软雅黑"/>
                <a:ea typeface="微软雅黑"/>
              </a:rPr>
              <a:t>挫折不会自动变成财富——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3A5A70"/>
                </a:solidFill>
                <a:latin typeface="微软雅黑 Light"/>
                <a:ea typeface="微软雅黑 Light"/>
              </a:rPr>
              <a:t>在于“一定条件”：你怎么对待它，决定它把你带向哪里。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327648"/>
            <a:ext cx="850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9A9A"/>
                </a:solidFill>
                <a:latin typeface="微软雅黑"/>
                <a:ea typeface="微软雅黑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3A5A70"/>
                </a:solidFill>
                <a:latin typeface="微软雅黑"/>
                <a:ea typeface="微软雅黑"/>
              </a:rPr>
              <a:t>知识点二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0">
                <a:solidFill>
                  <a:srgbClr val="1B1B1B"/>
                </a:solidFill>
                <a:latin typeface="微软雅黑 Light"/>
                <a:ea typeface="微软雅黑 Light"/>
              </a:rPr>
              <a:t>正确评价人生价值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73352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1B1B1B"/>
                </a:solidFill>
                <a:latin typeface="微软雅黑 Light"/>
                <a:ea typeface="微软雅黑 Light"/>
              </a:rPr>
              <a:t>人生价值 ＝ 自我价值 ＋ 社会价值</a:t>
            </a:r>
          </a:p>
          <a:p>
            <a:pPr algn="l"/>
            <a:r>
              <a:rPr sz="1400" b="0">
                <a:solidFill>
                  <a:srgbClr val="9A9A9A"/>
                </a:solidFill>
                <a:latin typeface="微软雅黑"/>
                <a:ea typeface="微软雅黑"/>
              </a:rPr>
              <a:t>（社会价值是主要方面）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611880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A9A9A"/>
                </a:solidFill>
                <a:latin typeface="微软雅黑"/>
                <a:ea typeface="微软雅黑"/>
              </a:rPr>
              <a:t>评价的根本尺度</a:t>
            </a:r>
          </a:p>
          <a:p>
            <a:pPr algn="l"/>
            <a:r>
              <a:rPr sz="2200" b="0">
                <a:solidFill>
                  <a:srgbClr val="3A5A70"/>
                </a:solidFill>
                <a:latin typeface="微软雅黑 Light"/>
                <a:ea typeface="微软雅黑 Light"/>
              </a:rPr>
              <a:t>看他有没有为他人、为社会作出贡献。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微软雅黑"/>
                <a:ea typeface="微软雅黑"/>
              </a:rPr>
              <a:t>要警惕：拜金主义　·　享乐主义　·　极端个人主义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27648"/>
            <a:ext cx="850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9A9A"/>
                </a:solidFill>
                <a:latin typeface="微软雅黑"/>
                <a:ea typeface="微软雅黑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3A5A70"/>
                </a:solidFill>
                <a:latin typeface="微软雅黑"/>
                <a:ea typeface="微软雅黑"/>
              </a:rPr>
              <a:t>借力与落回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0">
                <a:solidFill>
                  <a:srgbClr val="1B1B1B"/>
                </a:solidFill>
                <a:latin typeface="微软雅黑 Light"/>
                <a:ea typeface="微软雅黑 Light"/>
              </a:rPr>
              <a:t>存在主义 × 马克思主义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73352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53328" y="2724912"/>
            <a:ext cx="10972" cy="1298448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61488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3A5A70"/>
                </a:solidFill>
                <a:latin typeface="微软雅黑"/>
                <a:ea typeface="微软雅黑"/>
              </a:rPr>
              <a:t>存在主义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B1B1B"/>
                </a:solidFill>
                <a:latin typeface="微软雅黑"/>
                <a:ea typeface="微软雅黑"/>
              </a:rPr>
              <a:t>人是自由的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B1B1B"/>
                </a:solidFill>
                <a:latin typeface="微软雅黑"/>
                <a:ea typeface="微软雅黑"/>
              </a:rPr>
              <a:t>自由地选择，自负其责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B1B1B"/>
                </a:solidFill>
                <a:latin typeface="微软雅黑"/>
                <a:ea typeface="微软雅黑"/>
              </a:rPr>
              <a:t>不该活在别人的目光里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761488"/>
            <a:ext cx="4937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3A5A70"/>
                </a:solidFill>
                <a:latin typeface="微软雅黑"/>
                <a:ea typeface="微软雅黑"/>
              </a:rPr>
              <a:t>马克思主义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B1B1B"/>
                </a:solidFill>
                <a:latin typeface="微软雅黑"/>
                <a:ea typeface="微软雅黑"/>
              </a:rPr>
              <a:t>人的本质是一切社会关系的总和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B1B1B"/>
                </a:solidFill>
                <a:latin typeface="微软雅黑"/>
                <a:ea typeface="微软雅黑"/>
              </a:rPr>
              <a:t>个人价值与社会价值相统一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B1B1B"/>
                </a:solidFill>
                <a:latin typeface="微软雅黑"/>
                <a:ea typeface="微软雅黑"/>
              </a:rPr>
              <a:t>我们不是孤岛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617720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463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3A5A70"/>
                </a:solidFill>
                <a:latin typeface="微软雅黑 Light"/>
                <a:ea typeface="微软雅黑 Light"/>
              </a:rPr>
              <a:t>真正的自我价值，是握着自己的尺子，却把它指向对他人、对社会的贡献。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327648"/>
            <a:ext cx="850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9A9A"/>
                </a:solidFill>
                <a:latin typeface="微软雅黑"/>
                <a:ea typeface="微软雅黑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3A5A70"/>
                </a:solidFill>
                <a:latin typeface="微软雅黑"/>
                <a:ea typeface="微软雅黑"/>
              </a:rPr>
              <a:t>我的路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0">
                <a:solidFill>
                  <a:srgbClr val="1B1B1B"/>
                </a:solidFill>
                <a:latin typeface="微软雅黑 Light"/>
                <a:ea typeface="微软雅黑 Light"/>
              </a:rPr>
              <a:t>三条线，同一个起点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673352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9875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1B1B1B"/>
                </a:solidFill>
                <a:latin typeface="微软雅黑 Light"/>
                <a:ea typeface="微软雅黑 Light"/>
              </a:rPr>
              <a:t>动画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07208"/>
            <a:ext cx="9875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微软雅黑"/>
                <a:ea typeface="微软雅黑"/>
              </a:rPr>
              <a:t>在其中感受到纯粹的快乐、荒诞与美好带来的意义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319272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538728"/>
            <a:ext cx="9875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1B1B1B"/>
                </a:solidFill>
                <a:latin typeface="微软雅黑 Light"/>
                <a:ea typeface="微软雅黑 Light"/>
              </a:rPr>
              <a:t>哲学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05656"/>
            <a:ext cx="9875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微软雅黑"/>
                <a:ea typeface="微软雅黑"/>
              </a:rPr>
              <a:t>因为想弄懂人与这个世界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617720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37176"/>
            <a:ext cx="9875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1B1B1B"/>
                </a:solidFill>
                <a:latin typeface="微软雅黑 Light"/>
                <a:ea typeface="微软雅黑 Light"/>
              </a:rPr>
              <a:t>编程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404104"/>
            <a:ext cx="9875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微软雅黑"/>
                <a:ea typeface="微软雅黑"/>
              </a:rPr>
              <a:t>因为想找到自己的价值，做出对人们有用的产品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327648"/>
            <a:ext cx="850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9A9A"/>
                </a:solidFill>
                <a:latin typeface="微软雅黑"/>
                <a:ea typeface="微软雅黑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103327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0">
                <a:solidFill>
                  <a:srgbClr val="1B1B1B"/>
                </a:solidFill>
                <a:latin typeface="Noto Serif SC"/>
                <a:ea typeface="Noto Serif SC"/>
              </a:rPr>
              <a:t>人生的意义，不是一次算清的答案，</a:t>
            </a:r>
          </a:p>
          <a:p>
            <a:pPr algn="l">
              <a:lnSpc>
                <a:spcPct val="130000"/>
              </a:lnSpc>
            </a:pPr>
            <a:r>
              <a:rPr sz="2700" b="0">
                <a:solidFill>
                  <a:srgbClr val="3A5A70"/>
                </a:solidFill>
                <a:latin typeface="Noto Serif SC"/>
                <a:ea typeface="Noto Serif SC"/>
              </a:rPr>
              <a:t>而是在矛盾中不断被重新书写的动态过程。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4160520"/>
            <a:ext cx="10360152" cy="10972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332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6B6B6B"/>
                </a:solidFill>
                <a:latin typeface="微软雅黑"/>
                <a:ea typeface="微软雅黑"/>
              </a:rPr>
              <a:t>所以，我给自己找了一把尺子——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1B1B"/>
                </a:solidFill>
                <a:latin typeface="微软雅黑"/>
                <a:ea typeface="微软雅黑"/>
              </a:rPr>
              <a:t>能不能让我成长　｜　能不能对别人有用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9A9A"/>
                </a:solidFill>
                <a:latin typeface="微软雅黑"/>
                <a:ea typeface="微软雅黑"/>
              </a:rPr>
              <a:t>这未必是标准答案，但它让我走得更笃定。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850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9A9A"/>
                </a:solidFill>
                <a:latin typeface="微软雅黑"/>
                <a:ea typeface="微软雅黑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1460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0">
                <a:solidFill>
                  <a:srgbClr val="1B1B1B"/>
                </a:solidFill>
                <a:latin typeface="微软雅黑 Light"/>
                <a:ea typeface="微软雅黑 Light"/>
              </a:rPr>
              <a:t>谢谢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794760"/>
            <a:ext cx="3291840" cy="14630"/>
          </a:xfrm>
          <a:prstGeom prst="rect">
            <a:avLst/>
          </a:prstGeom>
          <a:solidFill>
            <a:srgbClr val="3A5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6B6B6B"/>
                </a:solidFill>
                <a:latin typeface="微软雅黑"/>
                <a:ea typeface="微软雅黑"/>
              </a:rPr>
              <a:t>你正在为什么样的意义而努力？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850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9A9A"/>
                </a:solidFill>
                <a:latin typeface="微软雅黑"/>
                <a:ea typeface="微软雅黑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