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52360" y="1188720"/>
            <a:ext cx="3867912" cy="4526280"/>
          </a:xfrm>
          <a:prstGeom prst="roundRect">
            <a:avLst>
              <a:gd name="adj" fmla="val 5000"/>
            </a:avLst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783080"/>
            <a:ext cx="3200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50" b="0">
                <a:solidFill>
                  <a:srgbClr val="FFFFFF"/>
                </a:solidFill>
                <a:latin typeface="Noto Serif SC"/>
                <a:ea typeface="Noto Serif SC"/>
              </a:rPr>
              <a:t>人生的意义，</a:t>
            </a:r>
          </a:p>
          <a:p>
            <a:pPr algn="l">
              <a:lnSpc>
                <a:spcPct val="150000"/>
              </a:lnSpc>
            </a:pPr>
            <a:r>
              <a:rPr sz="1550" b="0">
                <a:solidFill>
                  <a:srgbClr val="FFFFFF"/>
                </a:solidFill>
                <a:latin typeface="Noto Serif SC"/>
                <a:ea typeface="Noto Serif SC"/>
              </a:rPr>
              <a:t>不是一次算清的答案，</a:t>
            </a:r>
          </a:p>
          <a:p>
            <a:pPr algn="l">
              <a:lnSpc>
                <a:spcPct val="150000"/>
              </a:lnSpc>
            </a:pPr>
            <a:r>
              <a:rPr sz="1550" b="0">
                <a:solidFill>
                  <a:srgbClr val="FFFFFF"/>
                </a:solidFill>
                <a:latin typeface="Noto Serif SC"/>
                <a:ea typeface="Noto Serif SC"/>
              </a:rPr>
              <a:t>而是在矛盾中，</a:t>
            </a:r>
          </a:p>
          <a:p>
            <a:pPr algn="l">
              <a:lnSpc>
                <a:spcPct val="150000"/>
              </a:lnSpc>
            </a:pPr>
            <a:r>
              <a:rPr sz="1550" b="0">
                <a:solidFill>
                  <a:srgbClr val="FFFFFF"/>
                </a:solidFill>
                <a:latin typeface="Noto Serif SC"/>
                <a:ea typeface="Noto Serif SC"/>
              </a:rPr>
              <a:t>不断被重新书写的</a:t>
            </a:r>
          </a:p>
          <a:p>
            <a:pPr algn="l">
              <a:lnSpc>
                <a:spcPct val="150000"/>
              </a:lnSpc>
            </a:pPr>
            <a:r>
              <a:rPr sz="1550" b="0">
                <a:solidFill>
                  <a:srgbClr val="FFFFFF"/>
                </a:solidFill>
                <a:latin typeface="Noto Serif SC"/>
                <a:ea typeface="Noto Serif SC"/>
              </a:rPr>
              <a:t>动态过程。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4846320"/>
            <a:ext cx="1371600" cy="18288"/>
          </a:xfrm>
          <a:prstGeom prst="rect">
            <a:avLst/>
          </a:prstGeom>
          <a:solidFill>
            <a:srgbClr val="8F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4983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FA6B4"/>
                </a:solidFill>
                <a:latin typeface="微软雅黑"/>
                <a:ea typeface="微软雅黑"/>
              </a:rPr>
              <a:t>第一章 · 第三节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96012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F6B76"/>
                </a:solidFill>
                <a:latin typeface="微软雅黑"/>
                <a:ea typeface="微软雅黑"/>
              </a:rPr>
              <a:t>思想道德与法治 · 课前分享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0">
                <a:solidFill>
                  <a:srgbClr val="1B1B1B"/>
                </a:solidFill>
                <a:latin typeface="微软雅黑 Light"/>
                <a:ea typeface="微软雅黑 Light"/>
              </a:rPr>
              <a:t>创造有意义的人生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310128"/>
            <a:ext cx="1737360" cy="45720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F4858"/>
                </a:solidFill>
                <a:latin typeface="微软雅黑 Light"/>
                <a:ea typeface="微软雅黑 Light"/>
              </a:rPr>
              <a:t>从一次被否定说起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9204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微软雅黑"/>
                <a:ea typeface="微软雅黑"/>
              </a:rPr>
              <a:t>主讲：theotherDancer</a:t>
            </a:r>
          </a:p>
          <a:p>
            <a:pPr algn="l"/>
            <a:r>
              <a:rPr sz="1250" b="0">
                <a:solidFill>
                  <a:srgbClr val="5F6B76"/>
                </a:solidFill>
                <a:latin typeface="微软雅黑"/>
                <a:ea typeface="微软雅黑"/>
              </a:rPr>
              <a:t>第一章 第三节 ｜ 创造有意义的人生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8A2AB"/>
                </a:solidFill>
                <a:latin typeface="微软雅黑"/>
                <a:ea typeface="微软雅黑"/>
              </a:rPr>
              <a:t>2026.10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0152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8A2AB"/>
                </a:solidFill>
                <a:latin typeface="微软雅黑"/>
                <a:ea typeface="微软雅黑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76656"/>
            <a:ext cx="118872" cy="118872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6217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F4858"/>
                </a:solidFill>
                <a:latin typeface="微软雅黑"/>
                <a:ea typeface="微软雅黑"/>
              </a:rPr>
              <a:t>开场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10543032" cy="2057400"/>
          </a:xfrm>
          <a:prstGeom prst="roundRect">
            <a:avLst>
              <a:gd name="adj" fmla="val 6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64008" cy="2057400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06040"/>
            <a:ext cx="9875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1B1B1B"/>
                </a:solidFill>
                <a:latin typeface="微软雅黑 Light"/>
                <a:ea typeface="微软雅黑 Light"/>
              </a:rPr>
              <a:t>你觉得自己</a:t>
            </a:r>
          </a:p>
          <a:p>
            <a:pPr algn="l">
              <a:lnSpc>
                <a:spcPct val="125000"/>
              </a:lnSpc>
            </a:pPr>
            <a:r>
              <a:rPr sz="3200" b="0">
                <a:solidFill>
                  <a:srgbClr val="1B1B1B"/>
                </a:solidFill>
                <a:latin typeface="微软雅黑 Light"/>
                <a:ea typeface="微软雅黑 Light"/>
              </a:rPr>
              <a:t>「不够好」过吗？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17720"/>
            <a:ext cx="3200400" cy="777240"/>
          </a:xfrm>
          <a:prstGeom prst="roundRect">
            <a:avLst>
              <a:gd name="adj" fmla="val 16000"/>
            </a:avLst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不够漂亮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617720"/>
            <a:ext cx="3200400" cy="777240"/>
          </a:xfrm>
          <a:prstGeom prst="roundRect">
            <a:avLst>
              <a:gd name="adj" fmla="val 16000"/>
            </a:avLst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61772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不够聪明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617720"/>
            <a:ext cx="3200400" cy="777240"/>
          </a:xfrm>
          <a:prstGeom prst="roundRect">
            <a:avLst>
              <a:gd name="adj" fmla="val 16000"/>
            </a:avLst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61772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不够优秀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327648"/>
            <a:ext cx="10360152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8A2AB"/>
                </a:solidFill>
                <a:latin typeface="微软雅黑"/>
                <a:ea typeface="微软雅黑"/>
              </a:rPr>
              <a:t>创造有意义的人生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0152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8A2AB"/>
                </a:solidFill>
                <a:latin typeface="微软雅黑"/>
                <a:ea typeface="微软雅黑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76656"/>
            <a:ext cx="118872" cy="118872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6217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F4858"/>
                </a:solidFill>
                <a:latin typeface="微软雅黑"/>
                <a:ea typeface="微软雅黑"/>
              </a:rPr>
              <a:t>本节框架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96112"/>
            <a:ext cx="103601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1B1B1B"/>
                </a:solidFill>
                <a:latin typeface="微软雅黑 Light"/>
                <a:ea typeface="微软雅黑 Light"/>
              </a:rPr>
              <a:t>本节课的三个知识点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03120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B1B1B"/>
                </a:solidFill>
                <a:latin typeface="微软雅黑 Light"/>
                <a:ea typeface="微软雅黑 Light"/>
              </a:rPr>
              <a:t>辩证看待人生矛盾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35224"/>
            <a:ext cx="10360152" cy="91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044952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99232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B1B1B"/>
                </a:solidFill>
                <a:latin typeface="微软雅黑 Light"/>
                <a:ea typeface="微软雅黑 Light"/>
              </a:rPr>
              <a:t>正确评价人生价值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831336"/>
            <a:ext cx="10360152" cy="91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941064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41064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95344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B1B1B"/>
                </a:solidFill>
                <a:latin typeface="微软雅黑 Light"/>
                <a:ea typeface="微软雅黑 Light"/>
              </a:rPr>
              <a:t>成就出彩人生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83480"/>
            <a:ext cx="10543032" cy="777240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983480"/>
            <a:ext cx="64008" cy="777240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138928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6"/>
                </a:solidFill>
                <a:latin typeface="微软雅黑"/>
                <a:ea typeface="微软雅黑"/>
              </a:rPr>
              <a:t>我不想念课本——我想用一段自己的经历，和它们一一对上。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6327648"/>
            <a:ext cx="10360152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8A2AB"/>
                </a:solidFill>
                <a:latin typeface="微软雅黑"/>
                <a:ea typeface="微软雅黑"/>
              </a:rPr>
              <a:t>创造有意义的人生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0152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8A2AB"/>
                </a:solidFill>
                <a:latin typeface="微软雅黑"/>
                <a:ea typeface="微软雅黑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76656"/>
            <a:ext cx="118872" cy="118872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6217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F4858"/>
                </a:solidFill>
                <a:latin typeface="微软雅黑"/>
                <a:ea typeface="微软雅黑"/>
              </a:rPr>
              <a:t>我的故事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96112"/>
            <a:ext cx="103601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1B1B1B"/>
                </a:solidFill>
                <a:latin typeface="微软雅黑 Light"/>
                <a:ea typeface="微软雅黑 Light"/>
              </a:rPr>
              <a:t>两次被否定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0543032" cy="1874519"/>
          </a:xfrm>
          <a:prstGeom prst="roundRect">
            <a:avLst>
              <a:gd name="adj" fmla="val 6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64008" cy="1874519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1B1B1B"/>
                </a:solidFill>
                <a:latin typeface="Noto Serif SC"/>
                <a:ea typeface="Noto Serif SC"/>
              </a:rPr>
              <a:t>「你太矮了。」</a:t>
            </a:r>
          </a:p>
          <a:p>
            <a:pPr algn="l"/>
            <a:r>
              <a:rPr sz="2400" b="0">
                <a:solidFill>
                  <a:srgbClr val="1B1B1B"/>
                </a:solidFill>
                <a:latin typeface="Noto Serif SC"/>
                <a:ea typeface="Noto Serif SC"/>
              </a:rPr>
              <a:t>「你思维太慢，太菜。」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24528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5F6B76"/>
                </a:solidFill>
                <a:latin typeface="微软雅黑"/>
                <a:ea typeface="微软雅黑"/>
              </a:rPr>
              <a:t>真正让我难受的，不是这两句话——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2F4858"/>
                </a:solidFill>
                <a:latin typeface="微软雅黑 Light"/>
                <a:ea typeface="微软雅黑 Light"/>
              </a:rPr>
              <a:t>是我把衡量自己的那把尺子，交到了别人手里。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6327648"/>
            <a:ext cx="10360152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8A2AB"/>
                </a:solidFill>
                <a:latin typeface="微软雅黑"/>
                <a:ea typeface="微软雅黑"/>
              </a:rPr>
              <a:t>创造有意义的人生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0152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8A2AB"/>
                </a:solidFill>
                <a:latin typeface="微软雅黑"/>
                <a:ea typeface="微软雅黑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76656"/>
            <a:ext cx="118872" cy="118872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6217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F4858"/>
                </a:solidFill>
                <a:latin typeface="微软雅黑"/>
                <a:ea typeface="微软雅黑"/>
              </a:rPr>
              <a:t>共鸣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96112"/>
            <a:ext cx="103601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1B1B1B"/>
                </a:solidFill>
                <a:latin typeface="微软雅黑 Light"/>
                <a:ea typeface="微软雅黑 Light"/>
              </a:rPr>
              <a:t>其实，不止我一个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788920"/>
            <a:ext cx="3246120" cy="914400"/>
          </a:xfrm>
          <a:prstGeom prst="roundRect">
            <a:avLst>
              <a:gd name="adj" fmla="val 16000"/>
            </a:avLst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3246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容貌焦虑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2788920"/>
            <a:ext cx="3246120" cy="914400"/>
          </a:xfrm>
          <a:prstGeom prst="roundRect">
            <a:avLst>
              <a:gd name="adj" fmla="val 16000"/>
            </a:avLst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2788920"/>
            <a:ext cx="3246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身材焦虑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2788920"/>
            <a:ext cx="3246120" cy="914400"/>
          </a:xfrm>
          <a:prstGeom prst="roundRect">
            <a:avLst>
              <a:gd name="adj" fmla="val 16000"/>
            </a:avLst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788920"/>
            <a:ext cx="3246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能力焦虑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434840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F6B76"/>
                </a:solidFill>
                <a:latin typeface="微软雅黑"/>
                <a:ea typeface="微软雅黑"/>
              </a:rPr>
              <a:t>我们太习惯，拿别人的标准来量自己。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327648"/>
            <a:ext cx="10360152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8A2AB"/>
                </a:solidFill>
                <a:latin typeface="微软雅黑"/>
                <a:ea typeface="微软雅黑"/>
              </a:rPr>
              <a:t>创造有意义的人生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0152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8A2AB"/>
                </a:solidFill>
                <a:latin typeface="微软雅黑"/>
                <a:ea typeface="微软雅黑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76656"/>
            <a:ext cx="118872" cy="118872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6217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F4858"/>
                </a:solidFill>
                <a:latin typeface="微软雅黑"/>
                <a:ea typeface="微软雅黑"/>
              </a:rPr>
              <a:t>知识点一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96112"/>
            <a:ext cx="103601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1B1B1B"/>
                </a:solidFill>
                <a:latin typeface="微软雅黑 Light"/>
                <a:ea typeface="微软雅黑 Light"/>
              </a:rPr>
              <a:t>辩证看待人生矛盾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84831"/>
            <a:ext cx="10543032" cy="777240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84831"/>
            <a:ext cx="64008" cy="777240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58568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2F4858"/>
                </a:solidFill>
                <a:latin typeface="微软雅黑 Light"/>
                <a:ea typeface="微软雅黑 Light"/>
              </a:rPr>
              <a:t>对立统一　·　相互转化　·　一定条件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8A2AB"/>
                </a:solidFill>
                <a:latin typeface="微软雅黑"/>
                <a:ea typeface="微软雅黑"/>
              </a:rPr>
              <a:t>课本常讲的「五观」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56432"/>
            <a:ext cx="1938528" cy="640080"/>
          </a:xfrm>
          <a:prstGeom prst="roundRect">
            <a:avLst>
              <a:gd name="adj" fmla="val 14000"/>
            </a:avLst>
          </a:prstGeom>
          <a:solidFill>
            <a:srgbClr val="E2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56432"/>
            <a:ext cx="193852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F4858"/>
                </a:solidFill>
                <a:latin typeface="微软雅黑"/>
                <a:ea typeface="微软雅黑"/>
              </a:rPr>
              <a:t>得失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456432"/>
            <a:ext cx="1938528" cy="640080"/>
          </a:xfrm>
          <a:prstGeom prst="roundRect">
            <a:avLst>
              <a:gd name="adj" fmla="val 14000"/>
            </a:avLst>
          </a:prstGeom>
          <a:solidFill>
            <a:srgbClr val="E2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3456432"/>
            <a:ext cx="193852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F4858"/>
                </a:solidFill>
                <a:latin typeface="微软雅黑"/>
                <a:ea typeface="微软雅黑"/>
              </a:rPr>
              <a:t>苦乐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456432"/>
            <a:ext cx="1938528" cy="640080"/>
          </a:xfrm>
          <a:prstGeom prst="roundRect">
            <a:avLst>
              <a:gd name="adj" fmla="val 14000"/>
            </a:avLst>
          </a:prstGeom>
          <a:solidFill>
            <a:srgbClr val="E2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3456432"/>
            <a:ext cx="193852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F4858"/>
                </a:solidFill>
                <a:latin typeface="微软雅黑"/>
                <a:ea typeface="微软雅黑"/>
              </a:rPr>
              <a:t>顺逆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456432"/>
            <a:ext cx="1938528" cy="640080"/>
          </a:xfrm>
          <a:prstGeom prst="roundRect">
            <a:avLst>
              <a:gd name="adj" fmla="val 14000"/>
            </a:avLst>
          </a:prstGeom>
          <a:solidFill>
            <a:srgbClr val="E2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3456432"/>
            <a:ext cx="193852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F4858"/>
                </a:solidFill>
                <a:latin typeface="微软雅黑"/>
                <a:ea typeface="微软雅黑"/>
              </a:rPr>
              <a:t>生死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3456432"/>
            <a:ext cx="1938528" cy="640080"/>
          </a:xfrm>
          <a:prstGeom prst="roundRect">
            <a:avLst>
              <a:gd name="adj" fmla="val 14000"/>
            </a:avLst>
          </a:prstGeom>
          <a:solidFill>
            <a:srgbClr val="E2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456432"/>
            <a:ext cx="193852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F4858"/>
                </a:solidFill>
                <a:latin typeface="微软雅黑"/>
                <a:ea typeface="微软雅黑"/>
              </a:rPr>
              <a:t>荣辱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26280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709160"/>
            <a:ext cx="10543032" cy="105156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709160"/>
            <a:ext cx="64008" cy="1051560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864608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F6B76"/>
                </a:solidFill>
                <a:latin typeface="微软雅黑"/>
                <a:ea typeface="微软雅黑"/>
              </a:rPr>
              <a:t>挫折不会自动变成财富——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2F4858"/>
                </a:solidFill>
                <a:latin typeface="微软雅黑 Light"/>
                <a:ea typeface="微软雅黑 Light"/>
              </a:rPr>
              <a:t>在于「一定条件」：你怎么对待它，决定它把你带向哪里。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6327648"/>
            <a:ext cx="10360152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8A2AB"/>
                </a:solidFill>
                <a:latin typeface="微软雅黑"/>
                <a:ea typeface="微软雅黑"/>
              </a:rPr>
              <a:t>创造有意义的人生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0152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8A2AB"/>
                </a:solidFill>
                <a:latin typeface="微软雅黑"/>
                <a:ea typeface="微软雅黑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76656"/>
            <a:ext cx="118872" cy="118872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6217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F4858"/>
                </a:solidFill>
                <a:latin typeface="微软雅黑"/>
                <a:ea typeface="微软雅黑"/>
              </a:rPr>
              <a:t>知识点二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96112"/>
            <a:ext cx="103601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1B1B1B"/>
                </a:solidFill>
                <a:latin typeface="微软雅黑 Light"/>
                <a:ea typeface="微软雅黑 Light"/>
              </a:rPr>
              <a:t>正确评价人生价值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84831"/>
            <a:ext cx="10543032" cy="96012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84831"/>
            <a:ext cx="64008" cy="960120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12848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B1B1B"/>
                </a:solidFill>
                <a:latin typeface="微软雅黑 Light"/>
                <a:ea typeface="微软雅黑 Light"/>
              </a:rPr>
              <a:t>人生价值 ＝ 自我价值 ＋ 社会价值</a:t>
            </a:r>
          </a:p>
          <a:p>
            <a:pPr algn="l"/>
            <a:r>
              <a:rPr sz="1300" b="0">
                <a:solidFill>
                  <a:srgbClr val="98A2AB"/>
                </a:solidFill>
                <a:latin typeface="微软雅黑"/>
                <a:ea typeface="微软雅黑"/>
              </a:rPr>
              <a:t>（社会价值是主要方面）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83280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84448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8A2AB"/>
                </a:solidFill>
                <a:latin typeface="微软雅黑"/>
                <a:ea typeface="微软雅黑"/>
              </a:rPr>
              <a:t>评价的根本尺度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2F4858"/>
                </a:solidFill>
                <a:latin typeface="微软雅黑 Light"/>
                <a:ea typeface="微软雅黑 Light"/>
              </a:rPr>
              <a:t>看他有没有为他人、为社会作出贡献。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B76"/>
                </a:solidFill>
                <a:latin typeface="微软雅黑"/>
                <a:ea typeface="微软雅黑"/>
              </a:rPr>
              <a:t>要警惕：拜金主义　·　享乐主义　·　极端个人主义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327648"/>
            <a:ext cx="10360152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8A2AB"/>
                </a:solidFill>
                <a:latin typeface="微软雅黑"/>
                <a:ea typeface="微软雅黑"/>
              </a:rPr>
              <a:t>创造有意义的人生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0152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8A2AB"/>
                </a:solidFill>
                <a:latin typeface="微软雅黑"/>
                <a:ea typeface="微软雅黑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76656"/>
            <a:ext cx="118872" cy="118872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6217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F4858"/>
                </a:solidFill>
                <a:latin typeface="微软雅黑"/>
                <a:ea typeface="微软雅黑"/>
              </a:rPr>
              <a:t>借力与落回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96112"/>
            <a:ext cx="103601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1B1B1B"/>
                </a:solidFill>
                <a:latin typeface="微软雅黑 Light"/>
                <a:ea typeface="微软雅黑 Light"/>
              </a:rPr>
              <a:t>存在主义 × 马克思主义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5074920" cy="2240280"/>
          </a:xfrm>
          <a:prstGeom prst="roundRect">
            <a:avLst>
              <a:gd name="adj" fmla="val 6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64008" cy="2240280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2359152"/>
            <a:ext cx="1417320" cy="411480"/>
          </a:xfrm>
          <a:prstGeom prst="roundRect">
            <a:avLst>
              <a:gd name="adj" fmla="val 20000"/>
            </a:avLst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59152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存在主义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26080"/>
            <a:ext cx="4663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1B1B1B"/>
                </a:solidFill>
                <a:latin typeface="微软雅黑"/>
                <a:ea typeface="微软雅黑"/>
              </a:rPr>
              <a:t>人是自由的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B1B1B"/>
                </a:solidFill>
                <a:latin typeface="微软雅黑"/>
                <a:ea typeface="微软雅黑"/>
              </a:rPr>
              <a:t>自由地选择，自负其责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B1B1B"/>
                </a:solidFill>
                <a:latin typeface="微软雅黑"/>
                <a:ea typeface="微软雅黑"/>
              </a:rPr>
              <a:t>不该活在别人的目光里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148840"/>
            <a:ext cx="5074920" cy="2240280"/>
          </a:xfrm>
          <a:prstGeom prst="roundRect">
            <a:avLst>
              <a:gd name="adj" fmla="val 6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45936" y="2148840"/>
            <a:ext cx="64008" cy="2240280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65976" y="2359152"/>
            <a:ext cx="1691640" cy="411480"/>
          </a:xfrm>
          <a:prstGeom prst="roundRect">
            <a:avLst>
              <a:gd name="adj" fmla="val 20000"/>
            </a:avLst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5976" y="2359152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马克思主义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2926080"/>
            <a:ext cx="4663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1B1B1B"/>
                </a:solidFill>
                <a:latin typeface="微软雅黑"/>
                <a:ea typeface="微软雅黑"/>
              </a:rPr>
              <a:t>人的本质是一切社会关系的总和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B1B1B"/>
                </a:solidFill>
                <a:latin typeface="微软雅黑"/>
                <a:ea typeface="微软雅黑"/>
              </a:rPr>
              <a:t>个人价值与社会价值相统一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B1B1B"/>
                </a:solidFill>
                <a:latin typeface="微软雅黑"/>
                <a:ea typeface="微软雅黑"/>
              </a:rPr>
              <a:t>我们不是孤岛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63440"/>
            <a:ext cx="10543032" cy="868680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663440"/>
            <a:ext cx="64008" cy="868680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828032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0">
                <a:solidFill>
                  <a:srgbClr val="2F4858"/>
                </a:solidFill>
                <a:latin typeface="微软雅黑 Light"/>
                <a:ea typeface="微软雅黑 Light"/>
              </a:rPr>
              <a:t>真正的自我价值，是握着自己的尺子，却把它指向对他人、对社会的贡献。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6327648"/>
            <a:ext cx="10360152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8A2AB"/>
                </a:solidFill>
                <a:latin typeface="微软雅黑"/>
                <a:ea typeface="微软雅黑"/>
              </a:rPr>
              <a:t>创造有意义的人生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0152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8A2AB"/>
                </a:solidFill>
                <a:latin typeface="微软雅黑"/>
                <a:ea typeface="微软雅黑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76656"/>
            <a:ext cx="118872" cy="118872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6217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F4858"/>
                </a:solidFill>
                <a:latin typeface="微软雅黑"/>
                <a:ea typeface="微软雅黑"/>
              </a:rPr>
              <a:t>我的路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96112"/>
            <a:ext cx="103601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1B1B1B"/>
                </a:solidFill>
                <a:latin typeface="微软雅黑 Light"/>
                <a:ea typeface="微软雅黑 Light"/>
              </a:rPr>
              <a:t>三条线，同一个起点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488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066543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B1B1B"/>
                </a:solidFill>
                <a:latin typeface="微软雅黑 Light"/>
                <a:ea typeface="微软雅黑 Light"/>
              </a:rPr>
              <a:t>动画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3347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B76"/>
                </a:solidFill>
                <a:latin typeface="微软雅黑"/>
                <a:ea typeface="微软雅黑"/>
              </a:rPr>
              <a:t>在其中感受到纯粹的快乐、荒诞与美好带来的意义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63824"/>
            <a:ext cx="10360152" cy="91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42899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346703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B1B1B"/>
                </a:solidFill>
                <a:latin typeface="微软雅黑 Light"/>
                <a:ea typeface="微软雅黑 Light"/>
              </a:rPr>
              <a:t>哲学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13631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B76"/>
                </a:solidFill>
                <a:latin typeface="微软雅黑"/>
                <a:ea typeface="微软雅黑"/>
              </a:rPr>
              <a:t>因为想弄懂人与这个世界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443983"/>
            <a:ext cx="10360152" cy="91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70915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626864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B1B1B"/>
                </a:solidFill>
                <a:latin typeface="微软雅黑 Light"/>
                <a:ea typeface="微软雅黑 Light"/>
              </a:rPr>
              <a:t>编程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19379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B76"/>
                </a:solidFill>
                <a:latin typeface="微软雅黑"/>
                <a:ea typeface="微软雅黑"/>
              </a:rPr>
              <a:t>因为想找到自己的价值，做出对人们有用的产品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6327648"/>
            <a:ext cx="10360152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8A2AB"/>
                </a:solidFill>
                <a:latin typeface="微软雅黑"/>
                <a:ea typeface="微软雅黑"/>
              </a:rPr>
              <a:t>创造有意义的人生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0152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8A2AB"/>
                </a:solidFill>
                <a:latin typeface="微软雅黑"/>
                <a:ea typeface="微软雅黑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6015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>
                <a:solidFill>
                  <a:srgbClr val="1B1B1B"/>
                </a:solidFill>
                <a:latin typeface="Noto Serif SC"/>
                <a:ea typeface="Noto Serif SC"/>
              </a:rPr>
              <a:t>人生的意义，不是一次算清的答案，</a:t>
            </a:r>
          </a:p>
          <a:p>
            <a:pPr algn="l">
              <a:lnSpc>
                <a:spcPct val="130000"/>
              </a:lnSpc>
            </a:pPr>
            <a:r>
              <a:rPr sz="2500" b="0">
                <a:solidFill>
                  <a:srgbClr val="2F4858"/>
                </a:solidFill>
                <a:latin typeface="Noto Serif SC"/>
                <a:ea typeface="Noto Serif SC"/>
              </a:rPr>
              <a:t>而是在矛盾中不断被重新书写的动态过程。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77639"/>
            <a:ext cx="1036015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10543032" cy="1417320"/>
          </a:xfrm>
          <a:prstGeom prst="roundRect">
            <a:avLst>
              <a:gd name="adj" fmla="val 7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4160520"/>
            <a:ext cx="64008" cy="1417320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343400"/>
            <a:ext cx="9966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F6B76"/>
                </a:solidFill>
                <a:latin typeface="微软雅黑"/>
                <a:ea typeface="微软雅黑"/>
              </a:rPr>
              <a:t>所以，我给自己找了一把尺子——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1B1B1B"/>
                </a:solidFill>
                <a:latin typeface="微软雅黑"/>
                <a:ea typeface="微软雅黑"/>
              </a:rPr>
              <a:t>能不能让我成长　｜　能不能对别人有用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98A2AB"/>
                </a:solidFill>
                <a:latin typeface="微软雅黑"/>
                <a:ea typeface="微软雅黑"/>
              </a:rPr>
              <a:t>这未必是标准答案，但它让我走得更笃定。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327648"/>
            <a:ext cx="10360152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8A2AB"/>
                </a:solidFill>
                <a:latin typeface="微软雅黑"/>
                <a:ea typeface="微软雅黑"/>
              </a:rPr>
              <a:t>创造有意义的人生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0152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8A2AB"/>
                </a:solidFill>
                <a:latin typeface="微软雅黑"/>
                <a:ea typeface="微软雅黑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0">
                <a:solidFill>
                  <a:srgbClr val="1B1B1B"/>
                </a:solidFill>
                <a:latin typeface="微软雅黑 Light"/>
                <a:ea typeface="微软雅黑 Light"/>
              </a:rP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03320"/>
            <a:ext cx="1737360" cy="45720"/>
          </a:xfrm>
          <a:prstGeom prst="rect">
            <a:avLst/>
          </a:prstGeom>
          <a:solidFill>
            <a:srgbClr val="5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F6B76"/>
                </a:solidFill>
                <a:latin typeface="微软雅黑"/>
                <a:ea typeface="微软雅黑"/>
              </a:rPr>
              <a:t>你正在为什么样的意义而努力？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327648"/>
            <a:ext cx="10360152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8A2AB"/>
                </a:solidFill>
                <a:latin typeface="微软雅黑"/>
                <a:ea typeface="微软雅黑"/>
              </a:rPr>
              <a:t>创造有意义的人生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0152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8A2AB"/>
                </a:solidFill>
                <a:latin typeface="微软雅黑"/>
                <a:ea typeface="微软雅黑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